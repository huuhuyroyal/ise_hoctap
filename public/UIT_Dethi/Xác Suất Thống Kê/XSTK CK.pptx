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985E7-7EA6-AF49-811A-3D805160CF70}" v="122" dt="2023-06-24T20:56:01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2"/>
    <p:restoredTop sz="94719"/>
  </p:normalViewPr>
  <p:slideViewPr>
    <p:cSldViewPr snapToGrid="0">
      <p:cViewPr>
        <p:scale>
          <a:sx n="120" d="100"/>
          <a:sy n="12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ương Đoàn Vũ" userId="3212e5cf-cdcd-4085-91ca-8ed8030d9165" providerId="ADAL" clId="{751985E7-7EA6-AF49-811A-3D805160CF70}"/>
    <pc:docChg chg="undo custSel addSld modSld">
      <pc:chgData name="Trương Đoàn Vũ" userId="3212e5cf-cdcd-4085-91ca-8ed8030d9165" providerId="ADAL" clId="{751985E7-7EA6-AF49-811A-3D805160CF70}" dt="2023-06-24T20:56:01.139" v="132" actId="20577"/>
      <pc:docMkLst>
        <pc:docMk/>
      </pc:docMkLst>
      <pc:sldChg chg="addSp delSp modSp mod">
        <pc:chgData name="Trương Đoàn Vũ" userId="3212e5cf-cdcd-4085-91ca-8ed8030d9165" providerId="ADAL" clId="{751985E7-7EA6-AF49-811A-3D805160CF70}" dt="2023-06-24T20:51:00.008" v="68" actId="22"/>
        <pc:sldMkLst>
          <pc:docMk/>
          <pc:sldMk cId="2006561909" sldId="269"/>
        </pc:sldMkLst>
        <pc:spChg chg="mod">
          <ac:chgData name="Trương Đoàn Vũ" userId="3212e5cf-cdcd-4085-91ca-8ed8030d9165" providerId="ADAL" clId="{751985E7-7EA6-AF49-811A-3D805160CF70}" dt="2023-06-24T20:49:37.286" v="66" actId="20577"/>
          <ac:spMkLst>
            <pc:docMk/>
            <pc:sldMk cId="2006561909" sldId="269"/>
            <ac:spMk id="6" creationId="{C11CBC78-5028-FA2F-7D52-2A2B0B8C0A1D}"/>
          </ac:spMkLst>
        </pc:spChg>
        <pc:spChg chg="add del">
          <ac:chgData name="Trương Đoàn Vũ" userId="3212e5cf-cdcd-4085-91ca-8ed8030d9165" providerId="ADAL" clId="{751985E7-7EA6-AF49-811A-3D805160CF70}" dt="2023-06-24T20:51:00.008" v="68" actId="22"/>
          <ac:spMkLst>
            <pc:docMk/>
            <pc:sldMk cId="2006561909" sldId="269"/>
            <ac:spMk id="8" creationId="{A8713F0C-182D-D570-A876-F4D63CA8DE90}"/>
          </ac:spMkLst>
        </pc:spChg>
      </pc:sldChg>
      <pc:sldChg chg="addSp delSp modSp add mod">
        <pc:chgData name="Trương Đoàn Vũ" userId="3212e5cf-cdcd-4085-91ca-8ed8030d9165" providerId="ADAL" clId="{751985E7-7EA6-AF49-811A-3D805160CF70}" dt="2023-06-24T20:56:01.139" v="132" actId="20577"/>
        <pc:sldMkLst>
          <pc:docMk/>
          <pc:sldMk cId="1751932882" sldId="270"/>
        </pc:sldMkLst>
        <pc:spChg chg="add mod">
          <ac:chgData name="Trương Đoàn Vũ" userId="3212e5cf-cdcd-4085-91ca-8ed8030d9165" providerId="ADAL" clId="{751985E7-7EA6-AF49-811A-3D805160CF70}" dt="2023-06-24T20:56:01.139" v="132" actId="20577"/>
          <ac:spMkLst>
            <pc:docMk/>
            <pc:sldMk cId="1751932882" sldId="270"/>
            <ac:spMk id="2" creationId="{949772F7-09B3-3A18-04D4-6EAD6C7FCFF4}"/>
          </ac:spMkLst>
        </pc:spChg>
        <pc:spChg chg="del mod">
          <ac:chgData name="Trương Đoàn Vũ" userId="3212e5cf-cdcd-4085-91ca-8ed8030d9165" providerId="ADAL" clId="{751985E7-7EA6-AF49-811A-3D805160CF70}" dt="2023-06-24T20:51:18.898" v="72"/>
          <ac:spMkLst>
            <pc:docMk/>
            <pc:sldMk cId="1751932882" sldId="270"/>
            <ac:spMk id="6" creationId="{C11CBC78-5028-FA2F-7D52-2A2B0B8C0A1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9:30:1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2000 525 24575,'-3'-26'0,"-1"14"0,-3-14 0,-2 20 0,1-1 0,-1 0 0,0-1 0,1 0 0,0-1 0,0 2 0,-1 0 0,1-1 0,0 1 0,1 0 0,-1 1 0,-1 1 0,0 1 0,0-1 0,1-1 0,-1-2 0,-1 1 0,0 0 0,-1 1 0,-1 2 0,1-1 0,0-2 0,0 1 0,-1-2 0,-2 2 0,-2 2 0,0 0 0,0 0 0,0-2 0,1 0 0,-1-2 0,1 1 0,0 2 0,0 2 0,1-1 0,-3-1 0,-2-3 0,0 0 0,1 1 0,2 0 0,0 2 0,0 0 0,0-3 0,0 0 0,-1-1 0,-1 1 0,0 4 0,-3-2 0,-3-1 0,-3-3 0,-3-1 0,-2-2 0,-1 0 0,-1 2 0,-1 0 0,-1-1 0,-2 0 0,-3-1 0,-2 1 0,-2 2 0,-1 2 0,2 3 0,0 3 0,2 2 0,4 0 0,0 0 0,6 0 0,2 0 0,4 1 0,1 2 0,0 5 0,2 3 0,0 2 0,-3 1 0,0 1 0,-2-1 0,-1 0 0,2 0 0,-1-1 0,1 0 0,3-2 0,3 0 0,3 0 0,2-1 0,0 1 0,-1-1 0,3 1 0,0-1 0,2-2 0,0 0 0,1-1 0,2 0 0,0 1 0,1-1 0,2 0 0,-1-1 0,1 0 0,1 1 0,-1-1 0,1-1 0,1 1 0,0-1 0,-1 1 0,0 0 0,2 1 0,-1-1 0,1 1 0,1 1 0,0 0 0,1 0 0,-1 0 0,-2-1 0,0 3 0,0 2 0,-2 0 0,1 2 0,0 0 0,-1-2 0,2 2 0,1-3 0,1-2 0,2 0 0,0-1 0,0-1 0,0 1 0,1-2 0,3 0 0,4 1 0,5-1 0,4 2 0,3 0 0,2-2 0,3 1 0,2-1 0,-3 1 0,-1 2 0,2 0 0,1 2 0,1-1 0,0-1 0,-2 0 0,0-3 0,0 1 0,1-1 0,-1-1 0,-2 1 0,1-2 0,-1 1 0,0 1 0,-1 0 0,-1 1 0,0-2 0,-3 0 0,3-1 0,-2-2 0,2 1 0,3 0 0,0 0 0,1 1 0,-1 0 0,2 0 0,1-2 0,2 0 0,1 0 0,1 2 0,0 3 0,0 0 0,1-1 0,2-1 0,0-1 0,-1 1 0,-1 1 0,-1 2 0,-1-2 0,1 0 0,-3 0 0,3-1 0,3 2 0,2 0 0,3 2 0,-1 1 0,-2 0 0,-2-2 0,-3-1 0,-3-3 0,-4-2 0,-1-2 0,3 2 0,4 2 0,6 1 0,5 3 0,1 0 0,1 0 0,-2-3 0,-3-2 0,-2-1 0,-3 1 0,-1-1 0,-2 0 0,-2-2 0,0 0 0,0 0 0,-3 0 0,-2 0 0,-1 0 0,-1 0 0,0 0 0,-4-2 0,-4-1 0,-5-2 0,-3 0 0,-2 2 0,-1-1 0,-2 0 0,0-1 0,0-2 0,0 0 0,0-1 0,0 0 0,0-1 0,-3-1 0,-2-1 0,-5 0 0,-1-2 0,-4 1 0,-1 2 0,-1-1 0,-1 0 0,2 0 0,0-1 0,3 3 0,1 2 0,2 4 0,-1-1 0,0-1 0,0-2 0,1-4 0,3 0 0,-1 2 0,2 1 0,2 1 0,0 1 0,2-1 0,-2 1 0,2-3 0,0 1 0,0-2 0,2-1 0,0 0 0,0 1 0,0 0 0,0-1 0,0 1 0,0-2 0,0 0 0,0 1 0,0 2 0,0 1 0,0 1 0,0 1 0,0 0 0,0 0 0,0 0 0,0 1 0,0-1 0,0 1 0,-2 1 0,-1 0 0,-3 1 0,0-1 0,-1-6 0,-3-6 0,5 6 0,-1-1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C145-B318-4082-D8EB-272880F08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BE7B4-E341-8F02-FC06-6261D1082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1376F-C451-B8F3-89CE-7A7C311A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3A934-07F6-F5FF-3A6F-0DB510E7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90E98-8F9B-14DC-C506-F25BB2D1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67205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9662-031C-C45F-CB62-571E71B5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75C8B-93C4-DD2D-AF6B-34867DD74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BA168-9DDC-8223-C451-789D599B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C964C-FF05-0AA6-8EFC-961B65C7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6BEA3-1AFA-D6BC-9C5D-9089C599C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1109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A59B-1D5F-A483-E591-8A43912D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AF0C9-B8CC-9626-7ECE-CD66366D6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34051-DDD2-B88D-40B7-A9C973D0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E10DB-61C7-3754-6FE0-9B7C7A90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1C983-F97B-31E3-91B1-FDB6AC21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9427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4120-1C2E-14D5-7DBD-35D8AF92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51F62-2D80-0135-D5D1-BE1FE64FB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BAF03-28DE-E871-9E15-D50819D6D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E8504-6161-4336-ABFE-C616D543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C8970-FA53-FCAD-BE26-944D7E92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EA279-F648-DA9F-EBEA-C5F68DA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1847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62C3-29D3-CB27-F106-93AABC3D6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CCDD5-C0F5-5B38-96BF-FDD6088A4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A1DFD-207B-27FF-DCA4-52F0F0BCB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099EA-8E85-27E9-B3E2-C76F79D28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56D2C-C14C-4D5C-2D3D-937DE5F7B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0D6F4-F30B-0F09-B639-86FB5D2A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8F2B5-457B-49E4-19F7-391D78C7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695DE-2AA2-4527-DB11-A4AB45AC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4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9F47-414D-6D19-6E13-06B11860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7DACE-26F1-80A9-7C36-DF1A56A3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0C7F8-594B-01C0-CCC2-61E629998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E76FB-C36E-E393-B77C-9F81DA49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2023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E9C44-FEF6-FE2A-A636-1A2C92CC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5077C-7D81-1666-46B5-842B0289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F461D-6C73-622B-36C2-BE0E7C3B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1035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B9FF-2EFE-AFD6-D52C-57DBDF30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41FB-B5C7-8D8A-CCFC-CBFAAC162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D0BC3-86EC-5A88-F751-C6B860630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9AD48-9FDF-EFDC-0A21-AD1CEB92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65BC6-5B80-522C-736F-1A417BA5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625FE-4BFD-62E3-2C22-6822DC55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285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1860-EF51-3872-0569-FFF5E83F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01B44-1F3C-5D85-0B50-78951B76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A4EA4-176F-FE7A-F545-D81B0503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09E3D-09E1-1A43-297B-AA188DE9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3962B-34AC-750A-1DC2-94165CC2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3E771-B41B-FE35-9B2E-F3DC8DB3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6139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46FD-947A-99B3-63A4-0485118E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1D5E1-459E-7ED9-72B0-8DC0F47B6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AB450-9F66-0BBA-0A09-74412EBC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D661-49F1-C875-31E8-B7A64BDC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7EF4C-7114-E357-53A4-C39A65DA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1545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EBF43-D50C-8A60-9522-3620461D7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1FA02-09A2-18A0-5C93-2D91EE454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119FB-F24F-7A45-19F3-20B488CC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C585-01AB-1707-F73B-0014B78A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63B12-5E40-F4BA-4BF9-B86106A8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4708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AEBED2-865A-43AA-9168-FDEE6233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1FACB-D51D-00B3-BE8B-7B5BE799A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91735-159E-2214-BF0B-C6BCDB62A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2E415-A0E5-3E4B-A9B8-F18730CB6BF9}" type="datetimeFigureOut">
              <a:t>25/06/2023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74F3-C3FD-C606-DDF9-E65BD2E24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02C4C-ECEC-3A78-3869-DBEDF5F2A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A419E-3581-D240-84EE-008D71F0A1B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7672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42A013-64CC-35F7-6A6D-DB60431B15ED}"/>
              </a:ext>
            </a:extLst>
          </p:cNvPr>
          <p:cNvSpPr txBox="1"/>
          <p:nvPr/>
        </p:nvSpPr>
        <p:spPr>
          <a:xfrm>
            <a:off x="2762655" y="214009"/>
            <a:ext cx="79561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latin typeface="Segoe UI" panose="020B0502040204020203" pitchFamily="34" charset="0"/>
                <a:cs typeface="Segoe UI" panose="020B0502040204020203" pitchFamily="34" charset="0"/>
              </a:rPr>
              <a:t>Huỷ diệt đề XSTK cuối kỳ UIT câu 5 2023</a:t>
            </a:r>
          </a:p>
          <a:p>
            <a:endParaRPr lang="en-VN" sz="28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picture containing text, receipt, font, white&#10;&#10;Description automatically generated">
            <a:extLst>
              <a:ext uri="{FF2B5EF4-FFF2-40B4-BE49-F238E27FC236}">
                <a16:creationId xmlns:a16="http://schemas.microsoft.com/office/drawing/2014/main" id="{67462BED-E3E3-CF7A-01BD-DE5275C71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61" y="952404"/>
            <a:ext cx="9179823" cy="2070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F0528F-05DF-2E70-C17D-1F976339D021}"/>
              </a:ext>
            </a:extLst>
          </p:cNvPr>
          <p:cNvSpPr txBox="1"/>
          <p:nvPr/>
        </p:nvSpPr>
        <p:spPr>
          <a:xfrm>
            <a:off x="627961" y="2754218"/>
            <a:ext cx="10497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600" b="1">
                <a:latin typeface="Segoe UI" panose="020B0502040204020203" pitchFamily="34" charset="0"/>
                <a:cs typeface="Segoe UI" panose="020B0502040204020203" pitchFamily="34" charset="0"/>
              </a:rPr>
              <a:t>Y theo 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F446CD-00BB-CDC2-EF6F-AD64D205905E}"/>
                  </a:ext>
                </a:extLst>
              </p:cNvPr>
              <p:cNvSpPr txBox="1"/>
              <p:nvPr/>
            </p:nvSpPr>
            <p:spPr>
              <a:xfrm>
                <a:off x="583893" y="3289226"/>
                <a:ext cx="11391441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en-VN" sz="2800"/>
                  <a:t>Bấm máy casio 570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8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1: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𝑀𝑂𝐷𝐸</m:t>
                    </m:r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→3 →2</m:t>
                    </m:r>
                  </m:oMath>
                </a14:m>
                <a:endParaRPr lang="en-US" sz="2800">
                  <a:solidFill>
                    <a:schemeClr val="dk1"/>
                  </a:solidFill>
                  <a:latin typeface="Segoe UI"/>
                  <a:ea typeface="Quattrocento Sans"/>
                  <a:cs typeface="Quattrocento Sans"/>
                  <a:sym typeface="Quattrocento Sans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en-US" sz="28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2:  </a:t>
                </a:r>
                <a:r>
                  <a:rPr lang="en-US" sz="2800" b="1">
                    <a:solidFill>
                      <a:schemeClr val="accent1">
                        <a:lumMod val="75000"/>
                      </a:schemeClr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Nhập cột  Z trước – Nhâp cột Y sau  </a:t>
                </a:r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( nhập sai thứ tự đi luôn )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→</m:t>
                    </m:r>
                  </m:oMath>
                </a14:m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 bấm AC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8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3: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𝑆𝐻𝐼𝐹𝑇</m:t>
                    </m:r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→1 →5</m:t>
                    </m:r>
                  </m:oMath>
                </a14:m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– Chọn r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3200" b="1">
                    <a:solidFill>
                      <a:schemeClr val="accent1">
                        <a:lumMod val="75000"/>
                      </a:schemeClr>
                    </a:solidFill>
                  </a:rPr>
                  <a:t>Tính được r = 0.923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F446CD-00BB-CDC2-EF6F-AD64D2059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93" y="3289226"/>
                <a:ext cx="11391441" cy="3354765"/>
              </a:xfrm>
              <a:prstGeom prst="rect">
                <a:avLst/>
              </a:prstGeom>
              <a:blipFill>
                <a:blip r:embed="rId3"/>
                <a:stretch>
                  <a:fillRect l="-1338" t="-2264" r="-1449" b="-452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68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42A013-64CC-35F7-6A6D-DB60431B15ED}"/>
              </a:ext>
            </a:extLst>
          </p:cNvPr>
          <p:cNvSpPr txBox="1"/>
          <p:nvPr/>
        </p:nvSpPr>
        <p:spPr>
          <a:xfrm>
            <a:off x="2762655" y="214009"/>
            <a:ext cx="7824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latin typeface="Segoe UI" panose="020B0502040204020203" pitchFamily="34" charset="0"/>
                <a:cs typeface="Segoe UI" panose="020B0502040204020203" pitchFamily="34" charset="0"/>
              </a:rPr>
              <a:t>Huỷ diệt đề XSTK CUỐi kỳ UIT </a:t>
            </a:r>
          </a:p>
        </p:txBody>
      </p:sp>
      <p:pic>
        <p:nvPicPr>
          <p:cNvPr id="6" name="Picture 5" descr="A picture containing text, receipt, font, white&#10;&#10;Description automatically generated">
            <a:extLst>
              <a:ext uri="{FF2B5EF4-FFF2-40B4-BE49-F238E27FC236}">
                <a16:creationId xmlns:a16="http://schemas.microsoft.com/office/drawing/2014/main" id="{67462BED-E3E3-CF7A-01BD-DE5275C71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46" y="828418"/>
            <a:ext cx="9179823" cy="20704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A20BFC-44AC-6FF6-1EB3-BE96A06DD835}"/>
                  </a:ext>
                </a:extLst>
              </p:cNvPr>
              <p:cNvSpPr txBox="1"/>
              <p:nvPr/>
            </p:nvSpPr>
            <p:spPr>
              <a:xfrm>
                <a:off x="719846" y="2990030"/>
                <a:ext cx="10039593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Phương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</a:t>
                </a: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trình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</a:t>
                </a: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hồi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</a:t>
                </a: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quy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</a:t>
                </a: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tuyến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</a:t>
                </a: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tính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</a:t>
                </a:r>
                <a:r>
                  <a:rPr lang="en-US" sz="2800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của</a:t>
                </a:r>
                <a:r>
                  <a:rPr lang="en-US" sz="2800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Y </a:t>
                </a:r>
                <a:r>
                  <a:rPr lang="en-US" sz="2800" b="1" err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theo</a:t>
                </a:r>
                <a:r>
                  <a:rPr lang="en-US" sz="2800" b="1">
                    <a:solidFill>
                      <a:schemeClr val="dk1"/>
                    </a:solidFill>
                    <a:latin typeface="Segoe UI" panose="020B0502040204020203" pitchFamily="34" charset="0"/>
                    <a:ea typeface="Quattrocento Sans"/>
                    <a:cs typeface="Segoe UI" panose="020B0502040204020203" pitchFamily="34" charset="0"/>
                    <a:sym typeface="Quattrocento Sans"/>
                  </a:rPr>
                  <a:t> Z:</a:t>
                </a:r>
              </a:p>
              <a:p>
                <a:pPr lv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Quattrocento Sans"/>
                          <a:cs typeface="Quattrocento Sans"/>
                          <a:sym typeface="Quattrocento Sans"/>
                        </a:rPr>
                        <m:t>𝒀</m:t>
                      </m:r>
                      <m:r>
                        <a:rPr lang="en-US" sz="2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Quattrocento Sans"/>
                          <a:cs typeface="Quattrocento Sans"/>
                          <a:sym typeface="Quattrocento Sans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Quattrocento Sans"/>
                          <a:cs typeface="Quattrocento Sans"/>
                          <a:sym typeface="Quattrocento Sans"/>
                        </a:rPr>
                        <m:t>𝑨</m:t>
                      </m:r>
                      <m:r>
                        <a:rPr lang="en-US" sz="2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Quattrocento Sans"/>
                          <a:cs typeface="Quattrocento Sans"/>
                          <a:sym typeface="Quattrocento Sans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Quattrocento Sans"/>
                          <a:cs typeface="Quattrocento Sans"/>
                          <a:sym typeface="Quattrocento Sans"/>
                        </a:rPr>
                        <m:t>𝑩𝒁</m:t>
                      </m:r>
                    </m:oMath>
                  </m:oMathPara>
                </a14:m>
                <a:endParaRPr lang="en-US" sz="2800" b="1">
                  <a:solidFill>
                    <a:schemeClr val="accent1">
                      <a:lumMod val="75000"/>
                    </a:schemeClr>
                  </a:solidFill>
                  <a:latin typeface="Segoe UI" panose="020B0502040204020203" pitchFamily="34" charset="0"/>
                  <a:ea typeface="Quattrocento Sans"/>
                  <a:cs typeface="Segoe UI" panose="020B0502040204020203" pitchFamily="34" charset="0"/>
                  <a:sym typeface="Quattrocento Sans"/>
                </a:endParaRP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𝑆𝐻𝐼𝐹𝑇</m:t>
                    </m:r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→1 →5</m:t>
                    </m:r>
                  </m:oMath>
                </a14:m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– Chọn A , Chọn B</a:t>
                </a:r>
              </a:p>
              <a:p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Tính được A = 14.967 , B = 0.3278</a:t>
                </a:r>
              </a:p>
              <a:p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PT hồi quy tuyến tính :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𝒀</m:t>
                    </m:r>
                    <m:r>
                      <a:rPr lang="en-US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=</m:t>
                    </m:r>
                  </m:oMath>
                </a14:m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14.967+0.3278 </a:t>
                </a:r>
                <a:r>
                  <a:rPr lang="en-US" sz="2800" b="1" i="1">
                    <a:solidFill>
                      <a:schemeClr val="accent1">
                        <a:lumMod val="75000"/>
                      </a:schemeClr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Z</a:t>
                </a:r>
              </a:p>
              <a:p>
                <a:endParaRPr lang="en-US" sz="2800">
                  <a:solidFill>
                    <a:schemeClr val="dk1"/>
                  </a:solidFill>
                  <a:latin typeface="Segoe UI"/>
                  <a:ea typeface="Quattrocento Sans"/>
                  <a:cs typeface="Quattrocento Sans"/>
                  <a:sym typeface="Quattrocento Sans"/>
                </a:endParaRPr>
              </a:p>
              <a:p>
                <a:endParaRPr lang="en-US" sz="2800">
                  <a:solidFill>
                    <a:schemeClr val="dk1"/>
                  </a:solidFill>
                  <a:latin typeface="Segoe UI"/>
                  <a:ea typeface="Quattrocento Sans"/>
                  <a:cs typeface="Quattrocento Sans"/>
                  <a:sym typeface="Quattrocento Sans"/>
                </a:endParaRPr>
              </a:p>
              <a:p>
                <a:endParaRPr lang="en-VN" sz="28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A20BFC-44AC-6FF6-1EB3-BE96A06DD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46" y="2990030"/>
                <a:ext cx="10039593" cy="4278094"/>
              </a:xfrm>
              <a:prstGeom prst="rect">
                <a:avLst/>
              </a:prstGeom>
              <a:blipFill>
                <a:blip r:embed="rId3"/>
                <a:stretch>
                  <a:fillRect l="-1263" t="-147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26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2EA06D-64FD-3F00-609F-A1C3557A3A63}"/>
              </a:ext>
            </a:extLst>
          </p:cNvPr>
          <p:cNvSpPr txBox="1"/>
          <p:nvPr/>
        </p:nvSpPr>
        <p:spPr>
          <a:xfrm>
            <a:off x="1960880" y="111760"/>
            <a:ext cx="8107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latin typeface="Segoe UI" panose="020B0502040204020203" pitchFamily="34" charset="0"/>
                <a:cs typeface="Segoe UI" panose="020B0502040204020203" pitchFamily="34" charset="0"/>
              </a:rPr>
              <a:t>Huỷ diệt câu 3 2022</a:t>
            </a:r>
            <a:endParaRPr lang="en-VN" sz="2800"/>
          </a:p>
        </p:txBody>
      </p:sp>
      <p:pic>
        <p:nvPicPr>
          <p:cNvPr id="8" name="Picture 7" descr="A picture containing text, font, screenshot, document&#10;&#10;Description automatically generated">
            <a:extLst>
              <a:ext uri="{FF2B5EF4-FFF2-40B4-BE49-F238E27FC236}">
                <a16:creationId xmlns:a16="http://schemas.microsoft.com/office/drawing/2014/main" id="{5E000924-8885-4F82-F33E-B1D8E0E9D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497373"/>
            <a:ext cx="9448800" cy="3149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88A8B9-E6CA-C952-4C4A-D763803693B5}"/>
                  </a:ext>
                </a:extLst>
              </p:cNvPr>
              <p:cNvSpPr txBox="1"/>
              <p:nvPr/>
            </p:nvSpPr>
            <p:spPr>
              <a:xfrm>
                <a:off x="782320" y="4232690"/>
                <a:ext cx="1128776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1: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𝐌𝐎𝐃𝐄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𝟑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</m:t>
                    </m:r>
                    <m:r>
                      <a:rPr lang="en-US" sz="2400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𝟐</m:t>
                    </m:r>
                  </m:oMath>
                </a14:m>
                <a:endParaRPr lang="en-US" sz="2400" b="1">
                  <a:solidFill>
                    <a:schemeClr val="accent1">
                      <a:lumMod val="75000"/>
                    </a:schemeClr>
                  </a:solidFill>
                  <a:latin typeface="Segoe UI"/>
                  <a:ea typeface="Quattrocento Sans"/>
                  <a:cs typeface="Quattrocento Sans"/>
                  <a:sym typeface="Quattrocento Sans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2:  </a:t>
                </a:r>
                <a:r>
                  <a:rPr lang="en-US" sz="2400" b="1">
                    <a:solidFill>
                      <a:schemeClr val="accent5">
                        <a:lumMod val="75000"/>
                      </a:schemeClr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Nhập cột X (investment) trước cột Y (Year ) sau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→</m:t>
                    </m:r>
                  </m:oMath>
                </a14:m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 bấm AC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3: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𝑆𝐻𝐼𝐹𝑇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→1 →5</m:t>
                    </m:r>
                  </m:oMath>
                </a14:m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– Chọn r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Tính được r = 0.959  . r &gt; 0.9 và r &gt; 0 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=&gt; X và Y có tương quan tuyết tính mạnh( r &gt; 0.9) và đồng biến ( r&gt;0)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endParaRPr lang="en-VN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88A8B9-E6CA-C952-4C4A-D76380369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20" y="4232690"/>
                <a:ext cx="11287760" cy="3785652"/>
              </a:xfrm>
              <a:prstGeom prst="rect">
                <a:avLst/>
              </a:prstGeom>
              <a:blipFill>
                <a:blip r:embed="rId3"/>
                <a:stretch>
                  <a:fillRect l="-1124" t="-133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73A5F5-AD77-900C-6946-882D7F2A83B0}"/>
              </a:ext>
            </a:extLst>
          </p:cNvPr>
          <p:cNvSpPr txBox="1"/>
          <p:nvPr/>
        </p:nvSpPr>
        <p:spPr>
          <a:xfrm>
            <a:off x="903383" y="3738413"/>
            <a:ext cx="1550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/>
              <a:t>Y theo X</a:t>
            </a:r>
          </a:p>
        </p:txBody>
      </p:sp>
    </p:spTree>
    <p:extLst>
      <p:ext uri="{BB962C8B-B14F-4D97-AF65-F5344CB8AC3E}">
        <p14:creationId xmlns:p14="http://schemas.microsoft.com/office/powerpoint/2010/main" val="24768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2EA06D-64FD-3F00-609F-A1C3557A3A63}"/>
              </a:ext>
            </a:extLst>
          </p:cNvPr>
          <p:cNvSpPr txBox="1"/>
          <p:nvPr/>
        </p:nvSpPr>
        <p:spPr>
          <a:xfrm>
            <a:off x="1960880" y="111760"/>
            <a:ext cx="8107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latin typeface="Segoe UI" panose="020B0502040204020203" pitchFamily="34" charset="0"/>
                <a:cs typeface="Segoe UI" panose="020B0502040204020203" pitchFamily="34" charset="0"/>
              </a:rPr>
              <a:t>Huỷ diệt  đề XSTK Cuối kỳ </a:t>
            </a:r>
          </a:p>
          <a:p>
            <a:endParaRPr lang="en-VN" sz="2800"/>
          </a:p>
        </p:txBody>
      </p:sp>
      <p:pic>
        <p:nvPicPr>
          <p:cNvPr id="8" name="Picture 7" descr="A picture containing text, font, screenshot, document&#10;&#10;Description automatically generated">
            <a:extLst>
              <a:ext uri="{FF2B5EF4-FFF2-40B4-BE49-F238E27FC236}">
                <a16:creationId xmlns:a16="http://schemas.microsoft.com/office/drawing/2014/main" id="{5E000924-8885-4F82-F33E-B1D8E0E9D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588813"/>
            <a:ext cx="9448800" cy="3149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88A8B9-E6CA-C952-4C4A-D763803693B5}"/>
                  </a:ext>
                </a:extLst>
              </p:cNvPr>
              <p:cNvSpPr txBox="1"/>
              <p:nvPr/>
            </p:nvSpPr>
            <p:spPr>
              <a:xfrm>
                <a:off x="436880" y="3840481"/>
                <a:ext cx="11572240" cy="3908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3: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𝑆𝐻𝐼𝐹𝑇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→1 →5</m:t>
                    </m:r>
                  </m:oMath>
                </a14:m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– Chọn  A,B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Tính được A =2003.92 , B = 0.3469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PT hồi quy tuyến tính :</a:t>
                </a:r>
                <a:endParaRPr lang="en-VN" sz="2800" b="1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Y = A+BX = 2003.92  + 0.3469 X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X= 2023 =&gt; Y =55 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endParaRPr lang="en-VN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88A8B9-E6CA-C952-4C4A-D76380369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3840481"/>
                <a:ext cx="11572240" cy="3908762"/>
              </a:xfrm>
              <a:prstGeom prst="rect">
                <a:avLst/>
              </a:prstGeom>
              <a:blipFill>
                <a:blip r:embed="rId3"/>
                <a:stretch>
                  <a:fillRect l="-1096" t="-129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380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font, white, receipt&#10;&#10;Description automatically generated">
            <a:extLst>
              <a:ext uri="{FF2B5EF4-FFF2-40B4-BE49-F238E27FC236}">
                <a16:creationId xmlns:a16="http://schemas.microsoft.com/office/drawing/2014/main" id="{7362A145-B48E-EA62-A994-8552AF14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59" y="608070"/>
            <a:ext cx="9000635" cy="243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A0C8D-6182-3EB1-6A30-49B0D97BB864}"/>
              </a:ext>
            </a:extLst>
          </p:cNvPr>
          <p:cNvSpPr txBox="1"/>
          <p:nvPr/>
        </p:nvSpPr>
        <p:spPr>
          <a:xfrm>
            <a:off x="2174240" y="223520"/>
            <a:ext cx="909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latin typeface="Segoe UI" panose="020B0502040204020203" pitchFamily="34" charset="0"/>
                <a:cs typeface="Segoe UI" panose="020B0502040204020203" pitchFamily="34" charset="0"/>
              </a:rPr>
              <a:t>Huỷ diệt  đề XSTK Cuối kỳ câu 6 2020  </a:t>
            </a:r>
          </a:p>
          <a:p>
            <a:endParaRPr lang="en-VN" sz="2800"/>
          </a:p>
          <a:p>
            <a:endParaRPr lang="en-VN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4B226-3714-F807-C42E-D1D1C75F26DA}"/>
              </a:ext>
            </a:extLst>
          </p:cNvPr>
          <p:cNvSpPr txBox="1"/>
          <p:nvPr/>
        </p:nvSpPr>
        <p:spPr>
          <a:xfrm>
            <a:off x="741680" y="2885440"/>
            <a:ext cx="1305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/>
              <a:t>Y theo 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80482E-4BA0-D0DB-A3A1-84BAD742CE3D}"/>
                  </a:ext>
                </a:extLst>
              </p:cNvPr>
              <p:cNvSpPr txBox="1"/>
              <p:nvPr/>
            </p:nvSpPr>
            <p:spPr>
              <a:xfrm>
                <a:off x="528320" y="3347106"/>
                <a:ext cx="11887200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en-VN" sz="2400"/>
                  <a:t>Bấm máy casio 570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1: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𝑀𝑂𝐷𝐸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→3 →2</m:t>
                    </m:r>
                  </m:oMath>
                </a14:m>
                <a:endParaRPr lang="en-US" sz="2400">
                  <a:solidFill>
                    <a:schemeClr val="dk1"/>
                  </a:solidFill>
                  <a:latin typeface="Segoe UI"/>
                  <a:ea typeface="Quattrocento Sans"/>
                  <a:cs typeface="Quattrocento Sans"/>
                  <a:sym typeface="Quattrocento Sans"/>
                </a:endParaRPr>
              </a:p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2:  </a:t>
                </a:r>
                <a:r>
                  <a:rPr lang="en-US" sz="2400" b="1">
                    <a:solidFill>
                      <a:schemeClr val="accent1">
                        <a:lumMod val="75000"/>
                      </a:schemeClr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Nhập cột  X trước – Nhâp cột Y sau  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( nhập sai thứ tự đi luôn )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→</m:t>
                    </m:r>
                  </m:oMath>
                </a14:m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 bấm AC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3: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𝑆𝐻𝐼𝐹𝑇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→1 →5</m:t>
                    </m:r>
                  </m:oMath>
                </a14:m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– Chọn r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Tính được r =0.9756 &gt;0  và r &gt; 0.9 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VN" sz="2800" b="1">
                    <a:solidFill>
                      <a:schemeClr val="accent1">
                        <a:lumMod val="75000"/>
                      </a:schemeClr>
                    </a:solidFill>
                  </a:rPr>
                  <a:t>=&gt; Tuyết tính mạnh , đồng biến </a:t>
                </a:r>
                <a:endParaRPr lang="en-VN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80482E-4BA0-D0DB-A3A1-84BAD742C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20" y="3347106"/>
                <a:ext cx="11887200" cy="3200876"/>
              </a:xfrm>
              <a:prstGeom prst="rect">
                <a:avLst/>
              </a:prstGeom>
              <a:blipFill>
                <a:blip r:embed="rId3"/>
                <a:stretch>
                  <a:fillRect l="-1067" t="-1581" b="-434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40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font, white, receipt&#10;&#10;Description automatically generated">
            <a:extLst>
              <a:ext uri="{FF2B5EF4-FFF2-40B4-BE49-F238E27FC236}">
                <a16:creationId xmlns:a16="http://schemas.microsoft.com/office/drawing/2014/main" id="{7362A145-B48E-EA62-A994-8552AF14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59" y="608070"/>
            <a:ext cx="9000635" cy="243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A0C8D-6182-3EB1-6A30-49B0D97BB864}"/>
              </a:ext>
            </a:extLst>
          </p:cNvPr>
          <p:cNvSpPr txBox="1"/>
          <p:nvPr/>
        </p:nvSpPr>
        <p:spPr>
          <a:xfrm>
            <a:off x="2174240" y="223520"/>
            <a:ext cx="909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latin typeface="Segoe UI" panose="020B0502040204020203" pitchFamily="34" charset="0"/>
                <a:cs typeface="Segoe UI" panose="020B0502040204020203" pitchFamily="34" charset="0"/>
              </a:rPr>
              <a:t>Huỷ diệt  đề XSTK Cuối kỳ câu 6 2020  </a:t>
            </a:r>
          </a:p>
          <a:p>
            <a:endParaRPr lang="en-VN" sz="2800"/>
          </a:p>
          <a:p>
            <a:endParaRPr lang="en-VN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4B226-3714-F807-C42E-D1D1C75F26DA}"/>
              </a:ext>
            </a:extLst>
          </p:cNvPr>
          <p:cNvSpPr txBox="1"/>
          <p:nvPr/>
        </p:nvSpPr>
        <p:spPr>
          <a:xfrm>
            <a:off x="741680" y="2885440"/>
            <a:ext cx="1305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/>
              <a:t>Y theo 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80482E-4BA0-D0DB-A3A1-84BAD742CE3D}"/>
                  </a:ext>
                </a:extLst>
              </p:cNvPr>
              <p:cNvSpPr txBox="1"/>
              <p:nvPr/>
            </p:nvSpPr>
            <p:spPr>
              <a:xfrm>
                <a:off x="528320" y="3347106"/>
                <a:ext cx="11887200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Aft>
                    <a:spcPts val="1200"/>
                  </a:spcAft>
                </a:pPr>
                <a:r>
                  <a:rPr lang="en-VN" sz="2400"/>
                  <a:t>Bấm máy casio 570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 err="1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Bước</a:t>
                </a: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3: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𝑆𝐻𝐼𝐹𝑇</m:t>
                    </m:r>
                    <m:r>
                      <a:rPr lang="en-US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  <a:sym typeface="Quattrocento Sans"/>
                      </a:rPr>
                      <m:t> →1 →5</m:t>
                    </m:r>
                  </m:oMath>
                </a14:m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 – Chọn A , B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A= 19.3414,B=0.0285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PT hồi quy tuyến tính :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Y= 19.3414+ 0.0285X</a:t>
                </a:r>
              </a:p>
              <a:p>
                <a:pPr lvl="0">
                  <a:spcAft>
                    <a:spcPts val="1200"/>
                  </a:spcAft>
                </a:pPr>
                <a:r>
                  <a:rPr lang="en-US" sz="2400">
                    <a:solidFill>
                      <a:schemeClr val="dk1"/>
                    </a:solidFill>
                    <a:latin typeface="Segoe UI"/>
                    <a:ea typeface="Quattrocento Sans"/>
                    <a:cs typeface="Quattrocento Sans"/>
                    <a:sym typeface="Quattrocento Sans"/>
                  </a:rPr>
                  <a:t>x=5000 =&gt; Y=161.8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80482E-4BA0-D0DB-A3A1-84BAD742C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20" y="3347106"/>
                <a:ext cx="11887200" cy="3077766"/>
              </a:xfrm>
              <a:prstGeom prst="rect">
                <a:avLst/>
              </a:prstGeom>
              <a:blipFill>
                <a:blip r:embed="rId3"/>
                <a:stretch>
                  <a:fillRect l="-747" t="-1646" b="-370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font, white, receipt&#10;&#10;Description automatically generated">
            <a:extLst>
              <a:ext uri="{FF2B5EF4-FFF2-40B4-BE49-F238E27FC236}">
                <a16:creationId xmlns:a16="http://schemas.microsoft.com/office/drawing/2014/main" id="{587FF3F4-756A-3DE7-7411-B4382F7C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14" y="513654"/>
            <a:ext cx="11263331" cy="1924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E4890E-53B2-19D0-9C31-8181425E398E}"/>
              </a:ext>
            </a:extLst>
          </p:cNvPr>
          <p:cNvSpPr txBox="1"/>
          <p:nvPr/>
        </p:nvSpPr>
        <p:spPr>
          <a:xfrm>
            <a:off x="2001519" y="142240"/>
            <a:ext cx="9619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Câu 3 -  đề 2023-Dạng kiểm định giả thuyết về tỉ lệ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94BE1C-D2AD-8247-9773-551DE625B53C}"/>
                  </a:ext>
                </a:extLst>
              </p:cNvPr>
              <p:cNvSpPr txBox="1"/>
              <p:nvPr/>
            </p:nvSpPr>
            <p:spPr>
              <a:xfrm>
                <a:off x="396240" y="2316480"/>
                <a:ext cx="9956800" cy="4482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800" b="1">
                    <a:latin typeface="Segoe UI" panose="020B0502040204020203" pitchFamily="34" charset="0"/>
                    <a:cs typeface="Segoe UI" panose="020B0502040204020203" pitchFamily="34" charset="0"/>
                  </a:rPr>
                  <a:t>Giải : </a:t>
                </a:r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gọi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solidFill>
                          <a:schemeClr val="tx1"/>
                        </a:solidFill>
                        <a:latin typeface="σ"/>
                        <a:ea typeface="Cambria Math" panose="02040503050406030204" pitchFamily="18" charset="0"/>
                      </a:rPr>
                      <m:t>µ</m:t>
                    </m:r>
                  </m:oMath>
                </a14:m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 tỉ lể tăng giá của loại cổ phiếu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Phát biểu</a:t>
                </a:r>
              </a:p>
              <a:p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Thuận 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solidFill>
                          <a:schemeClr val="tx1"/>
                        </a:solidFill>
                        <a:latin typeface="σ"/>
                        <a:ea typeface="Cambria Math" panose="02040503050406030204" pitchFamily="18" charset="0"/>
                      </a:rPr>
                      <m:t>µ</m:t>
                    </m:r>
                  </m:oMath>
                </a14:m>
                <a:r>
                  <a:rPr lang="en-VN" sz="2800" b="1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&gt; 0.6</a:t>
                </a:r>
              </a:p>
              <a:p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Nghịc 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solidFill>
                          <a:schemeClr val="tx1"/>
                        </a:solidFill>
                        <a:latin typeface="σ"/>
                        <a:ea typeface="Cambria Math" panose="02040503050406030204" pitchFamily="18" charset="0"/>
                      </a:rPr>
                      <m:t>µ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vi-V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</m:t>
                    </m:r>
                  </m:oMath>
                </a14:m>
                <a:endParaRPr lang="en-VN" sz="28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 Đối thuyết , giả thuyết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µ 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&gt;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vi-VN" sz="2800" b="0" i="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vi-VN" sz="2800" b="0">
                  <a:solidFill>
                    <a:schemeClr val="tx1"/>
                  </a:solidFill>
                  <a:latin typeface="Segoe UI" panose="020B0502040204020203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µ </m:t>
                      </m:r>
                      <m:r>
                        <m:rPr>
                          <m:nor/>
                        </m:rPr>
                        <a:rPr lang="vi-VN" sz="2800" b="0" i="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vi-VN" sz="2800" b="0" i="0">
                          <a:solidFill>
                            <a:schemeClr val="tx1"/>
                          </a:solidFill>
                          <a:latin typeface="σ"/>
                          <a:ea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VN" sz="28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Cỡ mẫu n=178, tỉ lệ mẫu f=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VN" sz="28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vi-VN" sz="2800" b="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112</m:t>
                        </m:r>
                      </m:num>
                      <m:den>
                        <m:r>
                          <a:rPr lang="vi-VN" sz="2800" b="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178</m:t>
                        </m:r>
                      </m:den>
                    </m:f>
                  </m:oMath>
                </a14:m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 = 0.6292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𝑧</m:t>
                    </m:r>
                    <m:r>
                      <a:rPr lang="en-US" sz="2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𝑓</m:t>
                        </m:r>
                        <m:r>
                          <a:rPr lang="en-US" sz="2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sz="2800">
                            <a:solidFill>
                              <a:schemeClr val="tx1"/>
                            </a:solidFill>
                            <a:latin typeface="σ"/>
                            <a:ea typeface="Cambria Math" panose="02040503050406030204" pitchFamily="18" charset="0"/>
                          </a:rPr>
                          <m:t>µ</m:t>
                        </m:r>
                        <m:r>
                          <a:rPr lang="en-US" sz="2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e>
                        </m:rad>
                        <m:r>
                          <a:rPr lang="en-US" sz="2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solidFill>
                                  <a:schemeClr val="tx1"/>
                                </a:solidFill>
                                <a:latin typeface="σ"/>
                                <a:ea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n-US" sz="2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(1 −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solidFill>
                                  <a:schemeClr val="tx1"/>
                                </a:solidFill>
                                <a:latin typeface="σ"/>
                                <a:ea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n-US" sz="28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 = 0.795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94BE1C-D2AD-8247-9773-551DE625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" y="2316480"/>
                <a:ext cx="9956800" cy="4482894"/>
              </a:xfrm>
              <a:prstGeom prst="rect">
                <a:avLst/>
              </a:prstGeom>
              <a:blipFill>
                <a:blip r:embed="rId3"/>
                <a:stretch>
                  <a:fillRect l="-1274" t="-1412" b="-2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87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450EAA-0EB4-7D61-917C-B07B2B9DCB26}"/>
                  </a:ext>
                </a:extLst>
              </p:cNvPr>
              <p:cNvSpPr txBox="1"/>
              <p:nvPr/>
            </p:nvSpPr>
            <p:spPr>
              <a:xfrm>
                <a:off x="393406" y="159488"/>
                <a:ext cx="59223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Mức ý nghĩa: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𝛼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=0.05</m:t>
                    </m:r>
                  </m:oMath>
                </a14:m>
                <a:r>
                  <a:rPr lang="en-VN" sz="28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450EAA-0EB4-7D61-917C-B07B2B9DC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06" y="159488"/>
                <a:ext cx="5922334" cy="523220"/>
              </a:xfrm>
              <a:prstGeom prst="rect">
                <a:avLst/>
              </a:prstGeom>
              <a:blipFill>
                <a:blip r:embed="rId2"/>
                <a:stretch>
                  <a:fillRect l="-1927" t="-11905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text, font, receipt, white&#10;&#10;Description automatically generated">
            <a:extLst>
              <a:ext uri="{FF2B5EF4-FFF2-40B4-BE49-F238E27FC236}">
                <a16:creationId xmlns:a16="http://schemas.microsoft.com/office/drawing/2014/main" id="{5EB55779-7237-FD36-0F39-5B15B90B5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69" y="842197"/>
            <a:ext cx="9257716" cy="236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9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763299-87DC-9BE1-227B-7E68D7F1A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93" y="-55736"/>
            <a:ext cx="7689651" cy="39449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2F42F-C435-4005-A73D-48161ABC5941}"/>
                  </a:ext>
                </a:extLst>
              </p:cNvPr>
              <p:cNvSpPr txBox="1"/>
              <p:nvPr/>
            </p:nvSpPr>
            <p:spPr>
              <a:xfrm>
                <a:off x="391094" y="4019107"/>
                <a:ext cx="9146312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28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m:rPr>
                          <m:nor/>
                        </m:rPr>
                        <a:rPr lang="en-US" sz="28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20212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20212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20212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𝛼</m:t>
                          </m:r>
                        </m:sub>
                      </m:sSub>
                      <m:r>
                        <a:rPr lang="en-US" sz="2800">
                          <a:solidFill>
                            <a:srgbClr val="20212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)=</m:t>
                      </m:r>
                      <m:r>
                        <a:rPr lang="en-US" sz="2800" i="1">
                          <a:solidFill>
                            <a:srgbClr val="20212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 1−</m:t>
                      </m:r>
                      <m:r>
                        <a:rPr lang="en-US" sz="2800" i="1">
                          <a:solidFill>
                            <a:srgbClr val="20212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𝛼</m:t>
                      </m:r>
                      <m:r>
                        <a:rPr lang="en-US" sz="2800" b="0" i="1" smtClean="0">
                          <a:solidFill>
                            <a:srgbClr val="20212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=1 −0.05=0.95</m:t>
                      </m:r>
                    </m:oMath>
                  </m:oMathPara>
                </a14:m>
                <a:endParaRPr lang="vi-VN" sz="2800" b="0">
                  <a:solidFill>
                    <a:srgbClr val="202124"/>
                  </a:solidFill>
                  <a:ea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571500" indent="-571500">
                  <a:buFont typeface="Symbol" pitchFamily="2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40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4000">
                    <a:solidFill>
                      <a:srgbClr val="202124"/>
                    </a:solidFill>
                    <a:ea typeface="Cambria Math" panose="02040503050406030204" pitchFamily="18" charset="0"/>
                    <a:cs typeface="Segoe UI" panose="020B0502040204020203" pitchFamily="34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0.05</m:t>
                        </m:r>
                      </m:sub>
                    </m:sSub>
                  </m:oMath>
                </a14:m>
                <a:r>
                  <a:rPr lang="en-US" sz="3600"/>
                  <a:t>=1.645</a:t>
                </a:r>
              </a:p>
              <a:p>
                <a:pPr marL="571500" indent="-571500">
                  <a:buFont typeface="Symbol" pitchFamily="2" charset="2"/>
                  <a:buChar char="Þ"/>
                </a:pPr>
                <a14:m>
                  <m:oMath xmlns:m="http://schemas.openxmlformats.org/officeDocument/2006/math">
                    <m:r>
                      <a:rPr lang="en-US" sz="4400" i="1">
                        <a:solidFill>
                          <a:srgbClr val="20212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𝑧</m:t>
                    </m:r>
                  </m:oMath>
                </a14:m>
                <a:r>
                  <a:rPr lang="en-US" sz="4400"/>
                  <a:t> &lt;</a:t>
                </a:r>
                <a:r>
                  <a:rPr lang="en-US" sz="4400">
                    <a:solidFill>
                      <a:srgbClr val="202124"/>
                    </a:solidFill>
                    <a:ea typeface="Cambria Math" panose="02040503050406030204" pitchFamily="18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44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4400" i="1">
                            <a:solidFill>
                              <a:srgbClr val="2021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4400"/>
                  <a:t> =&gt; </a:t>
                </a:r>
                <a:r>
                  <a:rPr lang="en-US" sz="3200"/>
                  <a:t>Chấp nhận H</a:t>
                </a:r>
                <a:r>
                  <a:rPr lang="en-US" sz="3200" baseline="-25000"/>
                  <a:t>0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/>
                  <a:t>Ta đồng ý với phát biểu tỉ lệ phiên giao dịch tăng gia scủa loại  cổ phiếu này  trên 60%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2F42F-C435-4005-A73D-48161ABC5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94" y="4019107"/>
                <a:ext cx="9146312" cy="2800767"/>
              </a:xfrm>
              <a:prstGeom prst="rect">
                <a:avLst/>
              </a:prstGeom>
              <a:blipFill>
                <a:blip r:embed="rId3"/>
                <a:stretch>
                  <a:fillRect l="-2770" b="-58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DDB2E7-B1C8-600A-9D00-8954E9FF2C3D}"/>
                  </a:ext>
                </a:extLst>
              </p14:cNvPr>
              <p14:cNvContentPartPr/>
              <p14:nvPr/>
            </p14:nvContentPartPr>
            <p14:xfrm>
              <a:off x="5280882" y="3573971"/>
              <a:ext cx="815400" cy="338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DDB2E7-B1C8-600A-9D00-8954E9FF2C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2242" y="3565331"/>
                <a:ext cx="833040" cy="35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54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font, white, algebra&#10;&#10;Description automatically generated">
            <a:extLst>
              <a:ext uri="{FF2B5EF4-FFF2-40B4-BE49-F238E27FC236}">
                <a16:creationId xmlns:a16="http://schemas.microsoft.com/office/drawing/2014/main" id="{12795C01-BD68-B4F9-2E19-661FB242A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04" y="691101"/>
            <a:ext cx="11429191" cy="1661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EB8CFA-F045-F4B0-E6DD-7A71BCAA5D49}"/>
              </a:ext>
            </a:extLst>
          </p:cNvPr>
          <p:cNvSpPr txBox="1"/>
          <p:nvPr/>
        </p:nvSpPr>
        <p:spPr>
          <a:xfrm>
            <a:off x="2753832" y="180754"/>
            <a:ext cx="8442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/>
              <a:t>Câu 4 -  đề 2023</a:t>
            </a:r>
            <a:endParaRPr lang="en-VN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F3913-F5B7-2E9E-06B6-B64AF7EB121D}"/>
                  </a:ext>
                </a:extLst>
              </p:cNvPr>
              <p:cNvSpPr txBox="1"/>
              <p:nvPr/>
            </p:nvSpPr>
            <p:spPr>
              <a:xfrm>
                <a:off x="381404" y="2278570"/>
                <a:ext cx="11810596" cy="3281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800"/>
                  <a:t>Giải: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VN" sz="2800"/>
                  <a:t>Kích thước mẫu : n=256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VN" sz="2800"/>
                  <a:t>Trung bình mẫu :</a:t>
                </a:r>
                <a:r>
                  <a:rPr lang="en-US" sz="28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VN" sz="2800"/>
                  <a:t> =1642,5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/>
                  <a:t>Độ lệch chuẩn hiệu chỉnh :s =226,8281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/>
                  <a:t>Độ tin cậy : 1-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vi-V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=0.95</m:t>
                    </m:r>
                  </m:oMath>
                </a14:m>
                <a:r>
                  <a:rPr lang="vi-VN" sz="2800" b="0">
                    <a:ea typeface="Cambria Math" panose="02040503050406030204" pitchFamily="18" charset="0"/>
                  </a:rPr>
                  <a:t> =&gt;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vi-VN" sz="2800" b="0"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vi-VN" sz="2800" b="0">
                    <a:ea typeface="Cambria Math" panose="02040503050406030204" pitchFamily="18" charset="0"/>
                  </a:rPr>
                  <a:t>)=1-</a:t>
                </a:r>
                <a:r>
                  <a:rPr lang="en-US" sz="28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vi-VN" sz="2800" b="0">
                    <a:ea typeface="Cambria Math" panose="02040503050406030204" pitchFamily="18" charset="0"/>
                  </a:rPr>
                  <a:t> = 0.975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VN" sz="2800"/>
              </a:p>
              <a:p>
                <a:endParaRPr lang="en-VN" sz="28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F3913-F5B7-2E9E-06B6-B64AF7EB1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04" y="2278570"/>
                <a:ext cx="11810596" cy="3281155"/>
              </a:xfrm>
              <a:prstGeom prst="rect">
                <a:avLst/>
              </a:prstGeom>
              <a:blipFill>
                <a:blip r:embed="rId3"/>
                <a:stretch>
                  <a:fillRect l="-1074" t="-193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24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8D608-EEB9-62B2-7E74-7C0B20E3D862}"/>
              </a:ext>
            </a:extLst>
          </p:cNvPr>
          <p:cNvSpPr txBox="1"/>
          <p:nvPr/>
        </p:nvSpPr>
        <p:spPr>
          <a:xfrm flipV="1">
            <a:off x="1648047" y="3669066"/>
            <a:ext cx="7498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1200" b="0">
                <a:ea typeface="Cambria Math" panose="02040503050406030204" pitchFamily="18" charset="0"/>
              </a:rPr>
              <a:t>\</a:t>
            </a:r>
          </a:p>
        </p:txBody>
      </p:sp>
      <p:pic>
        <p:nvPicPr>
          <p:cNvPr id="7" name="Picture 6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53223E4E-D6A9-2E4E-D5B9-595C34627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17" y="0"/>
            <a:ext cx="7147763" cy="59938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205A2D-F4CE-3F68-C3ED-54E97F461A7F}"/>
                  </a:ext>
                </a:extLst>
              </p:cNvPr>
              <p:cNvSpPr txBox="1"/>
              <p:nvPr/>
            </p:nvSpPr>
            <p:spPr>
              <a:xfrm>
                <a:off x="7995684" y="1626781"/>
                <a:ext cx="2414892" cy="955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ctrlP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4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VN" sz="4000"/>
                  <a:t>=1.96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205A2D-F4CE-3F68-C3ED-54E97F461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684" y="1626781"/>
                <a:ext cx="2414892" cy="955262"/>
              </a:xfrm>
              <a:prstGeom prst="rect">
                <a:avLst/>
              </a:prstGeom>
              <a:blipFill>
                <a:blip r:embed="rId3"/>
                <a:stretch>
                  <a:fillRect l="-8377" t="-10526" r="-7853" b="-394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51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944432-348F-5B94-768E-CCD70D95CCAF}"/>
                  </a:ext>
                </a:extLst>
              </p:cNvPr>
              <p:cNvSpPr txBox="1"/>
              <p:nvPr/>
            </p:nvSpPr>
            <p:spPr>
              <a:xfrm>
                <a:off x="627321" y="754912"/>
                <a:ext cx="12131749" cy="3279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600">
                    <a:ea typeface="Cambria Math" panose="02040503050406030204" pitchFamily="18" charset="0"/>
                  </a:rPr>
                  <a:t>Độ chính xác</a:t>
                </a:r>
                <a14:m>
                  <m:oMath xmlns:m="http://schemas.openxmlformats.org/officeDocument/2006/math">
                    <m:r>
                      <a:rPr lang="vi-VN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sz="3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vi-V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f>
                          <m:fPr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vi-VN" sz="3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vi-VN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sz="3600" i="1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vi-V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vi-V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  <m:r>
                      <a:rPr lang="vi-VN" sz="3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=1,96.</m:t>
                    </m:r>
                    <m:f>
                      <m:fPr>
                        <m:ctrlPr>
                          <a:rPr lang="vi-VN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/>
                          <m:t>226,8281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vi-V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vi-V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256</m:t>
                            </m:r>
                          </m:e>
                        </m:rad>
                      </m:den>
                    </m:f>
                    <m:r>
                      <a:rPr lang="vi-VN" sz="3600" b="0" i="1">
                        <a:latin typeface="Cambria Math" panose="02040503050406030204" pitchFamily="18" charset="0"/>
                      </a:rPr>
                      <m:t>=27.79</m:t>
                    </m:r>
                  </m:oMath>
                </a14:m>
                <a:endParaRPr lang="vi-VN" sz="3600" b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vi-VN" sz="3600" b="0"/>
                  <a:t>Khoảng ước lượng: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sz="36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 </m:t>
                        </m:r>
                        <m:acc>
                          <m:accPr>
                            <m:chr m:val="̅"/>
                            <m:ctrlP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vi-VN" sz="360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r>
                  <a:rPr lang="vi-VN" sz="3600" b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sz="36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3600" b="0" i="1">
                            <a:latin typeface="Cambria Math" panose="02040503050406030204" pitchFamily="18" charset="0"/>
                          </a:rPr>
                          <m:t>1642,6−</m:t>
                        </m:r>
                        <m:r>
                          <a:rPr lang="vi-VN" sz="3600" b="0" i="1">
                            <a:latin typeface="Cambria Math" panose="02040503050406030204" pitchFamily="18" charset="0"/>
                          </a:rPr>
                          <m:t>27.79</m:t>
                        </m:r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vi-VN" sz="3600" b="0" i="1">
                            <a:latin typeface="Cambria Math" panose="02040503050406030204" pitchFamily="18" charset="0"/>
                          </a:rPr>
                          <m:t>1642,6−27.79</m:t>
                        </m:r>
                      </m:e>
                    </m:d>
                  </m:oMath>
                </a14:m>
                <a:endParaRPr lang="vi-VN" sz="3600" b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vi-VN" sz="3600" b="0"/>
                  <a:t>Khoảng ước lượng: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vi-VN" sz="36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3600" b="0" i="1">
                              <a:latin typeface="Cambria Math" panose="02040503050406030204" pitchFamily="18" charset="0"/>
                            </a:rPr>
                            <m:t>1614,71</m:t>
                          </m:r>
                          <m:r>
                            <a:rPr lang="en-US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vi-VN" sz="3600" b="0" i="1">
                              <a:latin typeface="Cambria Math" panose="02040503050406030204" pitchFamily="18" charset="0"/>
                            </a:rPr>
                            <m:t>1670,29</m:t>
                          </m:r>
                        </m:e>
                      </m:d>
                    </m:oMath>
                  </m:oMathPara>
                </a14:m>
                <a:endParaRPr lang="en-VN" sz="36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944432-348F-5B94-768E-CCD70D95C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1" y="754912"/>
                <a:ext cx="12131749" cy="3279937"/>
              </a:xfrm>
              <a:prstGeom prst="rect">
                <a:avLst/>
              </a:prstGeom>
              <a:blipFill>
                <a:blip r:embed="rId2"/>
                <a:stretch>
                  <a:fillRect l="-136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10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font, white, receipt&#10;&#10;Description automatically generated">
            <a:extLst>
              <a:ext uri="{FF2B5EF4-FFF2-40B4-BE49-F238E27FC236}">
                <a16:creationId xmlns:a16="http://schemas.microsoft.com/office/drawing/2014/main" id="{6B9CB732-BC75-1A22-376B-47ADE1746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35" y="104291"/>
            <a:ext cx="9582277" cy="3755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EBF98E-A31A-C341-27D1-333BACDBFF4E}"/>
              </a:ext>
            </a:extLst>
          </p:cNvPr>
          <p:cNvSpPr txBox="1"/>
          <p:nvPr/>
        </p:nvSpPr>
        <p:spPr>
          <a:xfrm>
            <a:off x="712382" y="3997843"/>
            <a:ext cx="2020186" cy="212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/>
              <a:t>P(0,0)=0,2</a:t>
            </a:r>
          </a:p>
          <a:p>
            <a:r>
              <a:rPr lang="en-VN" sz="3200"/>
              <a:t>P(1,0)=0,3</a:t>
            </a:r>
          </a:p>
          <a:p>
            <a:r>
              <a:rPr lang="en-VN" sz="3200"/>
              <a:t>P(0,1)=0,5</a:t>
            </a:r>
          </a:p>
          <a:p>
            <a:r>
              <a:rPr lang="en-VN" sz="3200"/>
              <a:t>p(1,1)=0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F140BA-BBC4-0930-0BE7-C9CC796F0578}"/>
                  </a:ext>
                </a:extLst>
              </p:cNvPr>
              <p:cNvSpPr txBox="1"/>
              <p:nvPr/>
            </p:nvSpPr>
            <p:spPr>
              <a:xfrm>
                <a:off x="3669887" y="4274288"/>
                <a:ext cx="6007799" cy="8897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𝑃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𝑋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=1</m:t>
                        </m:r>
                      </m:e>
                      <m:e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=0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𝑃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𝑋</m:t>
                            </m:r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=1, </m:t>
                            </m:r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𝑌</m:t>
                            </m:r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=0</m:t>
                            </m:r>
                          </m:e>
                        </m:d>
                      </m:num>
                      <m:den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=0)</m:t>
                        </m:r>
                      </m:den>
                    </m:f>
                  </m:oMath>
                </a14:m>
                <a:r>
                  <a:rPr lang="en-VN" sz="320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V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3200" b="0" i="1">
                            <a:latin typeface="Cambria Math" panose="02040503050406030204" pitchFamily="18" charset="0"/>
                          </a:rPr>
                          <m:t>0,3</m:t>
                        </m:r>
                      </m:num>
                      <m:den>
                        <m:r>
                          <a:rPr lang="vi-VN" sz="3200" b="0" i="1">
                            <a:latin typeface="Cambria Math" panose="02040503050406030204" pitchFamily="18" charset="0"/>
                          </a:rPr>
                          <m:t>0,5</m:t>
                        </m:r>
                      </m:den>
                    </m:f>
                  </m:oMath>
                </a14:m>
                <a:endParaRPr lang="en-VN" sz="32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F140BA-BBC4-0930-0BE7-C9CC796F0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887" y="4274288"/>
                <a:ext cx="6007799" cy="889795"/>
              </a:xfrm>
              <a:prstGeom prst="rect">
                <a:avLst/>
              </a:prstGeom>
              <a:blipFill>
                <a:blip r:embed="rId3"/>
                <a:stretch>
                  <a:fillRect l="-632" b="-985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7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receipt, white, font&#10;&#10;Description automatically generated">
            <a:extLst>
              <a:ext uri="{FF2B5EF4-FFF2-40B4-BE49-F238E27FC236}">
                <a16:creationId xmlns:a16="http://schemas.microsoft.com/office/drawing/2014/main" id="{3AD4727B-1002-1B33-FDF4-DB17EFCB9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3" y="262438"/>
            <a:ext cx="10414879" cy="31665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1CBC78-5028-FA2F-7D52-2A2B0B8C0A1D}"/>
                  </a:ext>
                </a:extLst>
              </p:cNvPr>
              <p:cNvSpPr txBox="1"/>
              <p:nvPr/>
            </p:nvSpPr>
            <p:spPr>
              <a:xfrm>
                <a:off x="393403" y="3429000"/>
                <a:ext cx="11798597" cy="3061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3200"/>
                  <a:t>a)</a:t>
                </a:r>
                <a:r>
                  <a:rPr lang="en-US" sz="3200" b="0">
                    <a:solidFill>
                      <a:schemeClr val="dk1"/>
                    </a:solidFill>
                    <a:ea typeface="Quattrocento Sans"/>
                    <a:cs typeface="Quattrocento Sans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𝑃</m:t>
                    </m:r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(</m:t>
                    </m:r>
                    <m:r>
                      <m:rPr>
                        <m:sty m:val="p"/>
                      </m:rPr>
                      <a:rPr lang="en-US" sz="3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X</m:t>
                    </m:r>
                    <m:r>
                      <a:rPr lang="vi-VN" sz="3200" b="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+</m:t>
                    </m:r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𝑌</m:t>
                    </m:r>
                  </m:oMath>
                </a14:m>
                <a:r>
                  <a:rPr lang="en-US" sz="3200">
                    <a:solidFill>
                      <a:schemeClr val="dk1"/>
                    </a:solidFill>
                    <a:ea typeface="Quattrocento Sans"/>
                    <a:cs typeface="Quattrocento Sans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Quattrocento Sans"/>
                      </a:rPr>
                      <m:t>≥</m:t>
                    </m:r>
                    <m:r>
                      <a:rPr lang="vi-VN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Quattrocento Sans"/>
                      </a:rPr>
                      <m:t>1</m:t>
                    </m:r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)</m:t>
                    </m:r>
                    <m:r>
                      <a:rPr lang="vi-VN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=</m:t>
                    </m:r>
                    <m:nary>
                      <m:nary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nary>
                      <m:nary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  <m:sup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vi-VN" sz="32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3200">
                  <a:solidFill>
                    <a:schemeClr val="dk1"/>
                  </a:solidFill>
                  <a:latin typeface="Segoe UI"/>
                  <a:ea typeface="Quattrocento Sans"/>
                  <a:cs typeface="Quattrocento Sans"/>
                </a:endParaRP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b</m:t>
                    </m:r>
                    <m:r>
                      <a:rPr lang="vi-VN" sz="3200" b="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) </m:t>
                    </m:r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𝑃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𝑋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≥</m:t>
                        </m:r>
                        <m:f>
                          <m:fPr>
                            <m:ctrlP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1</m:t>
                            </m:r>
                          </m:num>
                          <m:den>
                            <m: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X</m:t>
                        </m:r>
                        <m:r>
                          <a:rPr lang="vi-VN" sz="3200" b="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sz="3200">
                            <a:solidFill>
                              <a:schemeClr val="dk1"/>
                            </a:solidFill>
                            <a:ea typeface="Quattrocento Sans"/>
                            <a:cs typeface="Quattrocento Sans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≥</m:t>
                        </m:r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1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𝑋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≥</m:t>
                        </m:r>
                        <m:f>
                          <m:fPr>
                            <m:ctrlP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1</m:t>
                            </m:r>
                          </m:num>
                          <m:den>
                            <m: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2</m:t>
                            </m:r>
                          </m:den>
                        </m:f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X</m:t>
                        </m:r>
                        <m:r>
                          <a:rPr lang="vi-VN" sz="3200" b="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sz="3200">
                            <a:solidFill>
                              <a:schemeClr val="dk1"/>
                            </a:solidFill>
                            <a:ea typeface="Quattrocento Sans"/>
                            <a:cs typeface="Quattrocento Sans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≥</m:t>
                        </m:r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1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)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𝑃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X</m:t>
                        </m:r>
                        <m:r>
                          <a:rPr lang="vi-VN" sz="3200" b="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sz="3200">
                            <a:solidFill>
                              <a:schemeClr val="dk1"/>
                            </a:solidFill>
                            <a:ea typeface="Quattrocento Sans"/>
                            <a:cs typeface="Quattrocento Sans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≥</m:t>
                        </m:r>
                        <m:r>
                          <a:rPr lang="vi-VN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Quattrocento Sans"/>
                          </a:rPr>
                          <m:t>1</m:t>
                        </m:r>
                        <m: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)</m:t>
                        </m:r>
                      </m:den>
                    </m:f>
                  </m:oMath>
                </a14:m>
                <a:r>
                  <a:rPr lang="en-VN" sz="3200"/>
                  <a:t>=</a:t>
                </a:r>
                <a:r>
                  <a:rPr lang="en-US" sz="3200" b="0">
                    <a:solidFill>
                      <a:schemeClr val="dk1"/>
                    </a:solidFill>
                    <a:ea typeface="Quattrocento Sans"/>
                    <a:cs typeface="Quattrocento San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fPr>
                      <m:num>
                        <m:nary>
                          <m:naryPr>
                            <m:ctrlP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f>
                              <m:fPr>
                                <m:ctrlPr>
                                  <a:rPr lang="en-U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  <m:sup>
                            <m: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32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trlPr>
                                      <a:rPr lang="en-US" sz="32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vi-VN" sz="3200" b="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vi-VN" sz="32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vi-VN" sz="32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sSup>
                                      <m:sSupPr>
                                        <m:ctrlPr>
                                          <a:rPr lang="vi-VN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vi-VN" sz="32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vi-VN" sz="32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US" sz="32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  <m:r>
                                      <a:rPr lang="vi-VN" sz="3200" b="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2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dy</m:t>
                                    </m:r>
                                  </m:e>
                                </m:nary>
                              </m:e>
                            </m:d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num>
                      <m:den>
                        <m:f>
                          <m:fPr>
                            <m:ctrlP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9</m:t>
                            </m:r>
                          </m:num>
                          <m:den>
                            <m:r>
                              <a:rPr lang="en-US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1</m:t>
                            </m:r>
                            <m:r>
                              <a:rPr lang="vi-VN" sz="32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0</m:t>
                            </m:r>
                          </m:den>
                        </m:f>
                      </m:den>
                    </m:f>
                  </m:oMath>
                </a14:m>
                <a:endParaRPr lang="vi-VN" sz="3200" b="0" i="1">
                  <a:solidFill>
                    <a:schemeClr val="dk1"/>
                  </a:solidFill>
                  <a:latin typeface="Cambria Math" panose="02040503050406030204" pitchFamily="18" charset="0"/>
                  <a:ea typeface="Quattrocento Sans"/>
                  <a:cs typeface="Quattrocento Sans"/>
                </a:endParaRPr>
              </a:p>
              <a:p>
                <a:pPr/>
                <a:endParaRPr lang="en-VN" sz="3200"/>
              </a:p>
              <a:p>
                <a:endParaRPr lang="en-VN" sz="32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1CBC78-5028-FA2F-7D52-2A2B0B8C0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03" y="3429000"/>
                <a:ext cx="11798597" cy="3061287"/>
              </a:xfrm>
              <a:prstGeom prst="rect">
                <a:avLst/>
              </a:prstGeom>
              <a:blipFill>
                <a:blip r:embed="rId3"/>
                <a:stretch>
                  <a:fillRect l="-1398" t="-2933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56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receipt, white, font&#10;&#10;Description automatically generated">
            <a:extLst>
              <a:ext uri="{FF2B5EF4-FFF2-40B4-BE49-F238E27FC236}">
                <a16:creationId xmlns:a16="http://schemas.microsoft.com/office/drawing/2014/main" id="{3AD4727B-1002-1B33-FDF4-DB17EFCB9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3" y="262438"/>
            <a:ext cx="10414879" cy="31665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9772F7-09B3-3A18-04D4-6EAD6C7FCFF4}"/>
                  </a:ext>
                </a:extLst>
              </p:cNvPr>
              <p:cNvSpPr txBox="1"/>
              <p:nvPr/>
            </p:nvSpPr>
            <p:spPr>
              <a:xfrm>
                <a:off x="523613" y="3519377"/>
                <a:ext cx="6936001" cy="3115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b="0">
                    <a:solidFill>
                      <a:schemeClr val="dk1"/>
                    </a:solidFill>
                    <a:ea typeface="Quattrocento Sans"/>
                    <a:cs typeface="Quattrocento Sans"/>
                  </a:rPr>
                  <a:t>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𝑋</m:t>
                        </m:r>
                      </m:e>
                      <m:e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sz="3600">
                            <a:solidFill>
                              <a:schemeClr val="dk1"/>
                            </a:solidFill>
                            <a:ea typeface="Quattrocento Sans"/>
                            <a:cs typeface="Quattrocento Sans"/>
                          </a:rPr>
                          <m:t> </m:t>
                        </m:r>
                        <m:r>
                          <a:rPr lang="vi-VN" sz="3600" b="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=</m:t>
                        </m:r>
                        <m:f>
                          <m:fPr>
                            <m:ctrlPr>
                              <a:rPr lang="vi-VN" sz="3600" b="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3600" b="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3600" b="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VN" sz="3600"/>
                  <a:t>=</a:t>
                </a:r>
                <a:r>
                  <a:rPr lang="en-US" sz="3600" b="0">
                    <a:solidFill>
                      <a:schemeClr val="dk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x</m:t>
                            </m:r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𝑓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𝑥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36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y</m:t>
                            </m:r>
                            <m:r>
                              <a:rPr lang="vi-VN" sz="3600" b="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3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Quattrocento Sans"/>
                                    <a:cs typeface="Quattrocento Sans"/>
                                  </a:rPr>
                                </m:ctrlPr>
                              </m:fPr>
                              <m:num>
                                <m:r>
                                  <a:rPr lang="en-US" sz="3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Quattrocento Sans"/>
                                    <a:cs typeface="Quattrocento San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3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Quattrocento Sans"/>
                                    <a:cs typeface="Quattrocento Sans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vi-VN" sz="3600" b="0">
                  <a:solidFill>
                    <a:schemeClr val="dk1"/>
                  </a:solidFill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𝑓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𝑥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36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y</m:t>
                        </m:r>
                        <m:r>
                          <a:rPr lang="vi-VN" sz="3600" b="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=</m:t>
                        </m:r>
                        <m:f>
                          <m:fPr>
                            <m:ctrlP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1</m:t>
                            </m:r>
                          </m:num>
                          <m:den>
                            <m:r>
                              <a:rPr lang="vi-VN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VN" sz="3600"/>
                  <a:t>=</a:t>
                </a:r>
                <a:r>
                  <a:rPr lang="en-US" sz="3600" b="0">
                    <a:solidFill>
                      <a:schemeClr val="dk1"/>
                    </a:solidFill>
                    <a:ea typeface="Quattrocento Sans"/>
                    <a:cs typeface="Quattrocento San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𝑓</m:t>
                        </m:r>
                        <m:d>
                          <m:dPr>
                            <m:ctrlP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𝑥</m:t>
                            </m:r>
                          </m:e>
                          <m:e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𝑦</m:t>
                            </m:r>
                            <m:r>
                              <a:rPr lang="vi-VN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3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Quattrocento Sans"/>
                                    <a:cs typeface="Quattrocento Sans"/>
                                  </a:rPr>
                                </m:ctrlPr>
                              </m:fPr>
                              <m:num>
                                <m:r>
                                  <a:rPr lang="en-US" sz="3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Quattrocento Sans"/>
                                    <a:cs typeface="Quattrocento San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36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Quattrocento Sans"/>
                                    <a:cs typeface="Quattrocento Sans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𝑓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𝑌</m:t>
                            </m:r>
                          </m:sub>
                        </m:sSub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(</m:t>
                        </m:r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𝑦</m:t>
                        </m:r>
                        <m:r>
                          <a:rPr lang="vi-VN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=</m:t>
                        </m:r>
                        <m:f>
                          <m:fPr>
                            <m:ctrlP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1</m:t>
                            </m:r>
                          </m:num>
                          <m:den>
                            <m:r>
                              <a:rPr lang="vi-VN" sz="36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Quattrocento Sans"/>
                                <a:cs typeface="Quattrocento Sans"/>
                              </a:rPr>
                              <m:t>2</m:t>
                            </m:r>
                          </m:den>
                        </m:f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)</m:t>
                        </m:r>
                      </m:den>
                    </m:f>
                  </m:oMath>
                </a14:m>
                <a:endParaRPr lang="en-VN" sz="360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𝑓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𝑌</m:t>
                        </m:r>
                      </m:sub>
                    </m:sSub>
                    <m:r>
                      <a:rPr lang="en-US" sz="3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(</m:t>
                    </m:r>
                    <m:r>
                      <a:rPr lang="en-US" sz="3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𝑦</m:t>
                    </m:r>
                    <m:r>
                      <a:rPr lang="vi-VN" sz="3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Quattrocento Sans"/>
                        <a:cs typeface="Quattrocento Sans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1</m:t>
                        </m:r>
                      </m:num>
                      <m:den>
                        <m:r>
                          <a:rPr lang="vi-VN" sz="36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Quattrocento Sans"/>
                            <a:cs typeface="Quattrocento Sans"/>
                          </a:rPr>
                          <m:t>2</m:t>
                        </m:r>
                      </m:den>
                    </m:f>
                  </m:oMath>
                </a14:m>
                <a:r>
                  <a:rPr lang="en-VN" sz="3600"/>
                  <a:t>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9772F7-09B3-3A18-04D4-6EAD6C7F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13" y="3519377"/>
                <a:ext cx="6936001" cy="3115725"/>
              </a:xfrm>
              <a:prstGeom prst="rect">
                <a:avLst/>
              </a:prstGeom>
              <a:blipFill>
                <a:blip r:embed="rId3"/>
                <a:stretch>
                  <a:fillRect l="-2377" t="-31579" b="-283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93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644</Words>
  <Application>Microsoft Macintosh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Segoe UI</vt:lpstr>
      <vt:lpstr>Symbol</vt:lpstr>
      <vt:lpstr>σ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Trương Đoàn Vũ</dc:creator>
  <cp:lastModifiedBy>Trương Đoàn Vũ</cp:lastModifiedBy>
  <cp:revision>1</cp:revision>
  <dcterms:created xsi:type="dcterms:W3CDTF">2023-06-24T17:01:13Z</dcterms:created>
  <dcterms:modified xsi:type="dcterms:W3CDTF">2023-06-24T20:56:02Z</dcterms:modified>
</cp:coreProperties>
</file>